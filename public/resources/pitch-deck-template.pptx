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boto Condensed" charset="1" panose="02000000000000000000"/>
      <p:regular r:id="rId18"/>
    </p:embeddedFont>
    <p:embeddedFont>
      <p:font typeface="Bebas Neue" charset="1" panose="00000500000000000000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20940" y="3743325"/>
            <a:ext cx="3246120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Project Title</a:t>
            </a:r>
          </a:p>
          <a:p>
            <a:pPr algn="ctr">
              <a:lnSpc>
                <a:spcPts val="4319"/>
              </a:lnSpc>
            </a:pPr>
            <a:r>
              <a:rPr lang="en-US" sz="3599">
                <a:solidFill>
                  <a:srgbClr val="B4B4B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 Line Description</a:t>
            </a:r>
          </a:p>
          <a:p>
            <a:pPr algn="ctr">
              <a:lnSpc>
                <a:spcPts val="5999"/>
              </a:lnSpc>
            </a:pPr>
          </a:p>
          <a:p>
            <a:pPr algn="ctr">
              <a:lnSpc>
                <a:spcPts val="5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Team name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2878" y="312029"/>
            <a:ext cx="660915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CATEGORY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8325" y="909952"/>
            <a:ext cx="5412753" cy="92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8CC641"/>
                </a:solidFill>
                <a:latin typeface="Bebas Neue"/>
                <a:ea typeface="Bebas Neue"/>
                <a:cs typeface="Bebas Neue"/>
                <a:sym typeface="Bebas Neue"/>
              </a:rPr>
              <a:t>the research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5350" y="636327"/>
            <a:ext cx="6780152" cy="821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FBBC04"/>
                </a:solidFill>
                <a:latin typeface="Bebas Neue"/>
                <a:ea typeface="Bebas Neue"/>
                <a:cs typeface="Bebas Neue"/>
                <a:sym typeface="Bebas Neue"/>
              </a:rPr>
              <a:t>Customer pain points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1681" y="1222372"/>
            <a:ext cx="10410749" cy="129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The problem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4922" y="758228"/>
            <a:ext cx="5817146" cy="80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000">
                <a:solidFill>
                  <a:srgbClr val="8CC641"/>
                </a:solidFill>
                <a:latin typeface="Bebas Neue"/>
                <a:ea typeface="Bebas Neue"/>
                <a:cs typeface="Bebas Neue"/>
                <a:sym typeface="Bebas Neue"/>
              </a:rPr>
              <a:t>Our solution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8869101" y="7112822"/>
            <a:ext cx="2136800" cy="3010281"/>
          </a:xfrm>
          <a:custGeom>
            <a:avLst/>
            <a:gdLst/>
            <a:ahLst/>
            <a:cxnLst/>
            <a:rect r="r" b="b" t="t" l="l"/>
            <a:pathLst>
              <a:path h="3010281" w="2136800">
                <a:moveTo>
                  <a:pt x="2136801" y="0"/>
                </a:moveTo>
                <a:lnTo>
                  <a:pt x="0" y="0"/>
                </a:lnTo>
                <a:lnTo>
                  <a:pt x="0" y="3010281"/>
                </a:lnTo>
                <a:lnTo>
                  <a:pt x="2136801" y="3010281"/>
                </a:lnTo>
                <a:lnTo>
                  <a:pt x="213680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5524" y="535924"/>
            <a:ext cx="6120746" cy="67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95D866"/>
                </a:solidFill>
                <a:latin typeface="Bebas Neue"/>
                <a:ea typeface="Bebas Neue"/>
                <a:cs typeface="Bebas Neue"/>
                <a:sym typeface="Bebas Neue"/>
              </a:rPr>
              <a:t>Minimum viable product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5524" y="983599"/>
            <a:ext cx="6120746" cy="102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Platform preview ✨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9924" y="8700068"/>
            <a:ext cx="2944949" cy="74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595959"/>
                </a:solidFill>
                <a:latin typeface="Bebas Neue"/>
                <a:ea typeface="Bebas Neue"/>
                <a:cs typeface="Bebas Neue"/>
                <a:sym typeface="Bebas Neue"/>
              </a:rPr>
              <a:t>Home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33054" y="8779850"/>
            <a:ext cx="616496" cy="616496"/>
            <a:chOff x="0" y="0"/>
            <a:chExt cx="821995" cy="8219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771144" cy="771144"/>
            </a:xfrm>
            <a:custGeom>
              <a:avLst/>
              <a:gdLst/>
              <a:ahLst/>
              <a:cxnLst/>
              <a:rect r="r" b="b" t="t" l="l"/>
              <a:pathLst>
                <a:path h="771144" w="771144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cubicBezTo>
                    <a:pt x="598551" y="0"/>
                    <a:pt x="771144" y="172593"/>
                    <a:pt x="771144" y="385572"/>
                  </a:cubicBezTo>
                  <a:cubicBezTo>
                    <a:pt x="771144" y="598551"/>
                    <a:pt x="598551" y="771144"/>
                    <a:pt x="385572" y="771144"/>
                  </a:cubicBezTo>
                  <a:cubicBezTo>
                    <a:pt x="172593" y="771144"/>
                    <a:pt x="0" y="598551"/>
                    <a:pt x="0" y="385572"/>
                  </a:cubicBezTo>
                  <a:close/>
                </a:path>
              </a:pathLst>
            </a:custGeom>
            <a:solidFill>
              <a:srgbClr val="95D86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1944" cy="821944"/>
            </a:xfrm>
            <a:custGeom>
              <a:avLst/>
              <a:gdLst/>
              <a:ahLst/>
              <a:cxnLst/>
              <a:rect r="r" b="b" t="t" l="l"/>
              <a:pathLst>
                <a:path h="821944" w="821944">
                  <a:moveTo>
                    <a:pt x="0" y="410972"/>
                  </a:moveTo>
                  <a:cubicBezTo>
                    <a:pt x="0" y="184023"/>
                    <a:pt x="184023" y="0"/>
                    <a:pt x="410972" y="0"/>
                  </a:cubicBezTo>
                  <a:lnTo>
                    <a:pt x="410972" y="25400"/>
                  </a:lnTo>
                  <a:lnTo>
                    <a:pt x="410972" y="0"/>
                  </a:lnTo>
                  <a:cubicBezTo>
                    <a:pt x="638048" y="0"/>
                    <a:pt x="821944" y="184023"/>
                    <a:pt x="821944" y="410972"/>
                  </a:cubicBezTo>
                  <a:cubicBezTo>
                    <a:pt x="821944" y="637921"/>
                    <a:pt x="638048" y="821944"/>
                    <a:pt x="410972" y="821944"/>
                  </a:cubicBezTo>
                  <a:lnTo>
                    <a:pt x="410972" y="796544"/>
                  </a:lnTo>
                  <a:lnTo>
                    <a:pt x="410972" y="821944"/>
                  </a:lnTo>
                  <a:cubicBezTo>
                    <a:pt x="184023" y="821944"/>
                    <a:pt x="0" y="638048"/>
                    <a:pt x="0" y="410972"/>
                  </a:cubicBezTo>
                  <a:lnTo>
                    <a:pt x="25400" y="410972"/>
                  </a:lnTo>
                  <a:lnTo>
                    <a:pt x="47244" y="423926"/>
                  </a:lnTo>
                  <a:cubicBezTo>
                    <a:pt x="41402" y="433705"/>
                    <a:pt x="29718" y="438531"/>
                    <a:pt x="18669" y="435483"/>
                  </a:cubicBezTo>
                  <a:cubicBezTo>
                    <a:pt x="7620" y="432435"/>
                    <a:pt x="0" y="422402"/>
                    <a:pt x="0" y="410972"/>
                  </a:cubicBezTo>
                  <a:moveTo>
                    <a:pt x="50800" y="410972"/>
                  </a:moveTo>
                  <a:lnTo>
                    <a:pt x="25400" y="410972"/>
                  </a:lnTo>
                  <a:lnTo>
                    <a:pt x="3556" y="398018"/>
                  </a:lnTo>
                  <a:cubicBezTo>
                    <a:pt x="9398" y="388239"/>
                    <a:pt x="21082" y="383413"/>
                    <a:pt x="32131" y="386461"/>
                  </a:cubicBezTo>
                  <a:cubicBezTo>
                    <a:pt x="43180" y="389509"/>
                    <a:pt x="50800" y="399542"/>
                    <a:pt x="50800" y="410972"/>
                  </a:cubicBezTo>
                  <a:cubicBezTo>
                    <a:pt x="50800" y="609981"/>
                    <a:pt x="212090" y="771144"/>
                    <a:pt x="410972" y="771144"/>
                  </a:cubicBezTo>
                  <a:cubicBezTo>
                    <a:pt x="609854" y="771144"/>
                    <a:pt x="771144" y="609854"/>
                    <a:pt x="771144" y="410972"/>
                  </a:cubicBezTo>
                  <a:lnTo>
                    <a:pt x="796544" y="410972"/>
                  </a:lnTo>
                  <a:lnTo>
                    <a:pt x="771144" y="410972"/>
                  </a:lnTo>
                  <a:cubicBezTo>
                    <a:pt x="771144" y="212090"/>
                    <a:pt x="609981" y="50800"/>
                    <a:pt x="410972" y="50800"/>
                  </a:cubicBezTo>
                  <a:lnTo>
                    <a:pt x="410972" y="25400"/>
                  </a:lnTo>
                  <a:lnTo>
                    <a:pt x="410972" y="50800"/>
                  </a:lnTo>
                  <a:cubicBezTo>
                    <a:pt x="212090" y="50800"/>
                    <a:pt x="50800" y="212090"/>
                    <a:pt x="50800" y="410972"/>
                  </a:cubicBezTo>
                  <a:close/>
                </a:path>
              </a:pathLst>
            </a:custGeom>
            <a:solidFill>
              <a:srgbClr val="34A85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843524" y="8815997"/>
            <a:ext cx="395554" cy="53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959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91524" y="8681923"/>
            <a:ext cx="2944949" cy="74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595959"/>
                </a:solidFill>
                <a:latin typeface="Bebas Neue"/>
                <a:ea typeface="Bebas Neue"/>
                <a:cs typeface="Bebas Neue"/>
                <a:sym typeface="Bebas Neue"/>
              </a:rPr>
              <a:t>Explore concepts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724654" y="8779850"/>
            <a:ext cx="616496" cy="616496"/>
            <a:chOff x="0" y="0"/>
            <a:chExt cx="821995" cy="8219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771144" cy="771144"/>
            </a:xfrm>
            <a:custGeom>
              <a:avLst/>
              <a:gdLst/>
              <a:ahLst/>
              <a:cxnLst/>
              <a:rect r="r" b="b" t="t" l="l"/>
              <a:pathLst>
                <a:path h="771144" w="771144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cubicBezTo>
                    <a:pt x="598551" y="0"/>
                    <a:pt x="771144" y="172593"/>
                    <a:pt x="771144" y="385572"/>
                  </a:cubicBezTo>
                  <a:cubicBezTo>
                    <a:pt x="771144" y="598551"/>
                    <a:pt x="598551" y="771144"/>
                    <a:pt x="385572" y="771144"/>
                  </a:cubicBezTo>
                  <a:cubicBezTo>
                    <a:pt x="172593" y="771144"/>
                    <a:pt x="0" y="598551"/>
                    <a:pt x="0" y="385572"/>
                  </a:cubicBezTo>
                  <a:close/>
                </a:path>
              </a:pathLst>
            </a:custGeom>
            <a:solidFill>
              <a:srgbClr val="95D86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1944" cy="821944"/>
            </a:xfrm>
            <a:custGeom>
              <a:avLst/>
              <a:gdLst/>
              <a:ahLst/>
              <a:cxnLst/>
              <a:rect r="r" b="b" t="t" l="l"/>
              <a:pathLst>
                <a:path h="821944" w="821944">
                  <a:moveTo>
                    <a:pt x="0" y="410972"/>
                  </a:moveTo>
                  <a:cubicBezTo>
                    <a:pt x="0" y="184023"/>
                    <a:pt x="184023" y="0"/>
                    <a:pt x="410972" y="0"/>
                  </a:cubicBezTo>
                  <a:lnTo>
                    <a:pt x="410972" y="25400"/>
                  </a:lnTo>
                  <a:lnTo>
                    <a:pt x="410972" y="0"/>
                  </a:lnTo>
                  <a:cubicBezTo>
                    <a:pt x="638048" y="0"/>
                    <a:pt x="821944" y="184023"/>
                    <a:pt x="821944" y="410972"/>
                  </a:cubicBezTo>
                  <a:cubicBezTo>
                    <a:pt x="821944" y="637921"/>
                    <a:pt x="638048" y="821944"/>
                    <a:pt x="410972" y="821944"/>
                  </a:cubicBezTo>
                  <a:lnTo>
                    <a:pt x="410972" y="796544"/>
                  </a:lnTo>
                  <a:lnTo>
                    <a:pt x="410972" y="821944"/>
                  </a:lnTo>
                  <a:cubicBezTo>
                    <a:pt x="184023" y="821944"/>
                    <a:pt x="0" y="638048"/>
                    <a:pt x="0" y="410972"/>
                  </a:cubicBezTo>
                  <a:lnTo>
                    <a:pt x="25400" y="410972"/>
                  </a:lnTo>
                  <a:lnTo>
                    <a:pt x="47244" y="423926"/>
                  </a:lnTo>
                  <a:cubicBezTo>
                    <a:pt x="41402" y="433705"/>
                    <a:pt x="29718" y="438531"/>
                    <a:pt x="18669" y="435483"/>
                  </a:cubicBezTo>
                  <a:cubicBezTo>
                    <a:pt x="7620" y="432435"/>
                    <a:pt x="0" y="422402"/>
                    <a:pt x="0" y="410972"/>
                  </a:cubicBezTo>
                  <a:moveTo>
                    <a:pt x="50800" y="410972"/>
                  </a:moveTo>
                  <a:lnTo>
                    <a:pt x="25400" y="410972"/>
                  </a:lnTo>
                  <a:lnTo>
                    <a:pt x="3556" y="398018"/>
                  </a:lnTo>
                  <a:cubicBezTo>
                    <a:pt x="9398" y="388239"/>
                    <a:pt x="21082" y="383413"/>
                    <a:pt x="32131" y="386461"/>
                  </a:cubicBezTo>
                  <a:cubicBezTo>
                    <a:pt x="43180" y="389509"/>
                    <a:pt x="50800" y="399542"/>
                    <a:pt x="50800" y="410972"/>
                  </a:cubicBezTo>
                  <a:cubicBezTo>
                    <a:pt x="50800" y="609981"/>
                    <a:pt x="212090" y="771144"/>
                    <a:pt x="410972" y="771144"/>
                  </a:cubicBezTo>
                  <a:cubicBezTo>
                    <a:pt x="609854" y="771144"/>
                    <a:pt x="771144" y="609854"/>
                    <a:pt x="771144" y="410972"/>
                  </a:cubicBezTo>
                  <a:lnTo>
                    <a:pt x="796544" y="410972"/>
                  </a:lnTo>
                  <a:lnTo>
                    <a:pt x="771144" y="410972"/>
                  </a:lnTo>
                  <a:cubicBezTo>
                    <a:pt x="771144" y="212090"/>
                    <a:pt x="609981" y="50800"/>
                    <a:pt x="410972" y="50800"/>
                  </a:cubicBezTo>
                  <a:lnTo>
                    <a:pt x="410972" y="25400"/>
                  </a:lnTo>
                  <a:lnTo>
                    <a:pt x="410972" y="50800"/>
                  </a:lnTo>
                  <a:cubicBezTo>
                    <a:pt x="212090" y="50800"/>
                    <a:pt x="50800" y="212090"/>
                    <a:pt x="50800" y="410972"/>
                  </a:cubicBezTo>
                  <a:close/>
                </a:path>
              </a:pathLst>
            </a:custGeom>
            <a:solidFill>
              <a:srgbClr val="34A85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835124" y="8815997"/>
            <a:ext cx="395554" cy="53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5959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9660" y="1794559"/>
            <a:ext cx="2272951" cy="9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4285F4"/>
                </a:solidFill>
                <a:latin typeface="Bebas Neue"/>
                <a:ea typeface="Bebas Neue"/>
                <a:cs typeface="Bebas Neue"/>
                <a:sym typeface="Bebas Neue"/>
              </a:rPr>
              <a:t>The STORY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5236" y="300676"/>
            <a:ext cx="326355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595959"/>
                </a:solidFill>
                <a:latin typeface="Bebas Neue"/>
                <a:ea typeface="Bebas Neue"/>
                <a:cs typeface="Bebas Neue"/>
                <a:sym typeface="Bebas Neue"/>
              </a:rPr>
              <a:t>Use Cases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7268" y="321802"/>
            <a:ext cx="111841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8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What we offer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7268" y="1074277"/>
            <a:ext cx="1118415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8CC641"/>
                </a:solidFill>
                <a:latin typeface="Bebas Neue"/>
                <a:ea typeface="Bebas Neue"/>
                <a:cs typeface="Bebas Neue"/>
                <a:sym typeface="Bebas Neue"/>
              </a:rPr>
              <a:t>Our features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7268" y="321802"/>
            <a:ext cx="11184150" cy="1089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8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Customer value proposition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7268" y="1074277"/>
            <a:ext cx="11184150" cy="88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8CC641"/>
                </a:solidFill>
                <a:latin typeface="Bebas Neue"/>
                <a:ea typeface="Bebas Neue"/>
                <a:cs typeface="Bebas Neue"/>
                <a:sym typeface="Bebas Neue"/>
              </a:rPr>
              <a:t>Our product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787400" y="1439904"/>
          <a:ext cx="16713200" cy="8001000"/>
        </p:xfrm>
        <a:graphic>
          <a:graphicData uri="http://schemas.openxmlformats.org/drawingml/2006/table">
            <a:tbl>
              <a:tblPr/>
              <a:tblGrid>
                <a:gridCol w="2387600"/>
                <a:gridCol w="2748568"/>
                <a:gridCol w="2550053"/>
                <a:gridCol w="2459774"/>
                <a:gridCol w="2023797"/>
                <a:gridCol w="2209578"/>
                <a:gridCol w="2333830"/>
              </a:tblGrid>
              <a:tr h="8674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Comparison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Competitor Logo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Competitor Logo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Competitor Logo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Competitor Logo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Competitor Logo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74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13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76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74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74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74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74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74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558879" y="269529"/>
            <a:ext cx="7494746" cy="92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Competitive analysis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161301" y="347821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61301" y="445837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61301" y="5411619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61301" y="6364872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61301" y="2559748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938000" y="347821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938000" y="2559748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38000" y="5440404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938000" y="721140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938000" y="4423019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464431" y="2559748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427026" y="347821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427026" y="445837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427026" y="5491629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427026" y="7197042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427026" y="6312132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729647" y="2559748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729647" y="347821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729647" y="5455339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729647" y="7200671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729647" y="4412351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851598" y="2559748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851598" y="347821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851598" y="445837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851598" y="7244039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851598" y="5438851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975673" y="2559748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161301" y="7260831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850750" y="9109777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851598" y="811129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670249" y="8155219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1643474" y="9109739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436237" y="8165935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436237" y="893694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4161282" y="819919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4161272" y="916554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6938000" y="9140219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6937981" y="8175784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1729647" y="6364834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3851598" y="6341440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6938000" y="6325886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6927" y="490776"/>
            <a:ext cx="1020261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68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MARKET SIZE Estimation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7181" y="460372"/>
            <a:ext cx="5976147" cy="129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The TEAM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89751" y="2597744"/>
            <a:ext cx="2443201" cy="2442601"/>
          </a:xfrm>
          <a:custGeom>
            <a:avLst/>
            <a:gdLst/>
            <a:ahLst/>
            <a:cxnLst/>
            <a:rect r="r" b="b" t="t" l="l"/>
            <a:pathLst>
              <a:path h="2442601" w="2443201">
                <a:moveTo>
                  <a:pt x="0" y="0"/>
                </a:moveTo>
                <a:lnTo>
                  <a:pt x="2443201" y="0"/>
                </a:lnTo>
                <a:lnTo>
                  <a:pt x="2443201" y="2442600"/>
                </a:lnTo>
                <a:lnTo>
                  <a:pt x="0" y="2442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" r="0" b="-1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77093" y="5544426"/>
            <a:ext cx="3068545" cy="63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Manas Malla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023253" y="6242895"/>
            <a:ext cx="1576197" cy="446399"/>
            <a:chOff x="0" y="0"/>
            <a:chExt cx="2101596" cy="5951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1596" cy="595122"/>
            </a:xfrm>
            <a:custGeom>
              <a:avLst/>
              <a:gdLst/>
              <a:ahLst/>
              <a:cxnLst/>
              <a:rect r="r" b="b" t="t" l="l"/>
              <a:pathLst>
                <a:path h="595122" w="2101596">
                  <a:moveTo>
                    <a:pt x="0" y="99187"/>
                  </a:moveTo>
                  <a:cubicBezTo>
                    <a:pt x="0" y="44450"/>
                    <a:pt x="44450" y="0"/>
                    <a:pt x="99187" y="0"/>
                  </a:cubicBezTo>
                  <a:lnTo>
                    <a:pt x="2002409" y="0"/>
                  </a:lnTo>
                  <a:cubicBezTo>
                    <a:pt x="2057146" y="0"/>
                    <a:pt x="2101596" y="44450"/>
                    <a:pt x="2101596" y="99187"/>
                  </a:cubicBezTo>
                  <a:lnTo>
                    <a:pt x="2101596" y="495935"/>
                  </a:lnTo>
                  <a:cubicBezTo>
                    <a:pt x="2101596" y="550672"/>
                    <a:pt x="2057146" y="595122"/>
                    <a:pt x="2002409" y="595122"/>
                  </a:cubicBezTo>
                  <a:lnTo>
                    <a:pt x="99187" y="595122"/>
                  </a:lnTo>
                  <a:cubicBezTo>
                    <a:pt x="44450" y="595249"/>
                    <a:pt x="0" y="550799"/>
                    <a:pt x="0" y="495935"/>
                  </a:cubicBezTo>
                  <a:close/>
                </a:path>
              </a:pathLst>
            </a:custGeom>
            <a:solidFill>
              <a:srgbClr val="34A853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1596" cy="614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Founder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DAG9Tp3Lmhs</dc:identifier>
  <dcterms:modified xsi:type="dcterms:W3CDTF">2011-08-01T06:04:30Z</dcterms:modified>
  <cp:revision>1</cp:revision>
  <dc:title>Copy of Untitled</dc:title>
</cp:coreProperties>
</file>